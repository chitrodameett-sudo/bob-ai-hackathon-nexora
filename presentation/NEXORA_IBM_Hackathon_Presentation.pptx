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4D3FF"/>
                </a:solidFill>
              </a:defRPr>
            </a:pPr>
            <a:r>
              <a:t>NEXORA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1284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EEF4FA"/>
                </a:solidFill>
              </a:defRPr>
            </a:pPr>
            <a:r>
              <a:t>AI-Powered Defense &amp; Aerospace</a:t>
            </a:r>
            <a:br/>
            <a:r>
              <a:t>Equipment Readiness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AEC4"/>
                </a:solidFill>
              </a:defRPr>
            </a:pPr>
            <a:r>
              <a:t>Predict. Prepare. Protect.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834640" cy="105156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1325880"/>
            <a:ext cx="54864" cy="10515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19" y="1481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4FA"/>
                </a:solidFill>
              </a:defRPr>
            </a:pPr>
            <a: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1892807"/>
            <a:ext cx="2514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Defense &amp; Aerospace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560320"/>
            <a:ext cx="2834640" cy="105156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9640" y="2560320"/>
            <a:ext cx="54864" cy="1051560"/>
          </a:xfrm>
          <a:prstGeom prst="rect">
            <a:avLst/>
          </a:prstGeom>
          <a:solidFill>
            <a:srgbClr val="43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19" y="27157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4FA"/>
                </a:solidFill>
              </a:defRPr>
            </a:pPr>
            <a: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3127248"/>
            <a:ext cx="2514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D1 • Predictive 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794760"/>
            <a:ext cx="2834640" cy="105156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9640" y="3794760"/>
            <a:ext cx="54864" cy="105156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39502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4FA"/>
                </a:solidFill>
              </a:defRPr>
            </a:pPr>
            <a: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4361688"/>
            <a:ext cx="2514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NEXORA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Synthetic hackathon prototype • No classified / targeting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The Problem: “Healthy” does not always mean READY</a:t>
            </a:r>
          </a:p>
          <a:p>
            <a:pPr>
              <a:spcBef>
                <a:spcPts val="600"/>
              </a:spcBef>
              <a:defRPr sz="1300">
                <a:solidFill>
                  <a:srgbClr val="9BAEC4"/>
                </a:solidFill>
              </a:defRPr>
            </a:pPr>
            <a:r>
              <a:t>Defense fleets need a readiness view that connects health, maintenance and supply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342900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54864" cy="3429000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EF4FA"/>
                </a:solidFill>
              </a:defRPr>
            </a:pPr>
            <a:r>
              <a:t>1  HIDDEN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310896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A single degraded subsystem can make an asset operationally NOT READY even when overall telemetry looks acceptable.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342900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54864" cy="342900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EF4FA"/>
                </a:solidFill>
              </a:defRPr>
            </a:pPr>
            <a:r>
              <a:t>2  FRAGMENTED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75688"/>
            <a:ext cx="310896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Telemetry, maintenance workload, spare-part availability and supplier delays are often evaluated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429000" cy="342900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08760"/>
            <a:ext cx="54864" cy="342900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6642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EF4FA"/>
                </a:solidFill>
              </a:defRPr>
            </a:pPr>
            <a:r>
              <a:t>3  SLOW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075688"/>
            <a:ext cx="310896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Teams need to know what needs attention first — and where the problem is — before maintenance windows are missed.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492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EF4FA"/>
                </a:solidFill>
              </a:defRPr>
            </a:pPr>
            <a:r>
              <a:t>Core question →  “Can this equipment realistically be ready when required, and WHERE is the problem?”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The Solution: NEXORA Digital Readiness Twin</a:t>
            </a:r>
          </a:p>
          <a:p>
            <a:pPr>
              <a:spcBef>
                <a:spcPts val="600"/>
              </a:spcBef>
              <a:defRPr sz="1300">
                <a:solidFill>
                  <a:srgbClr val="9BAEC4"/>
                </a:solidFill>
              </a:defRPr>
            </a:pPr>
            <a:r>
              <a:t>One operational view that turns multiple signals into a prioritized maintenance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600200" cy="1051560"/>
          </a:xfrm>
          <a:prstGeom prst="roundRect">
            <a:avLst/>
          </a:prstGeom>
          <a:solidFill>
            <a:srgbClr val="16273E"/>
          </a:solidFill>
          <a:ln>
            <a:solidFill>
              <a:srgbClr val="3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2039112"/>
            <a:ext cx="1453896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Telemetry</a:t>
            </a:r>
            <a:br/>
            <a:r>
              <a:t>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65960"/>
            <a:ext cx="1600200" cy="1051560"/>
          </a:xfrm>
          <a:prstGeom prst="roundRect">
            <a:avLst/>
          </a:prstGeom>
          <a:solidFill>
            <a:srgbClr val="16273E"/>
          </a:solidFill>
          <a:ln>
            <a:solidFill>
              <a:srgbClr val="3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039112"/>
            <a:ext cx="1453896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Maintenance</a:t>
            </a:r>
            <a:br/>
            <a: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965960"/>
            <a:ext cx="1600200" cy="1051560"/>
          </a:xfrm>
          <a:prstGeom prst="roundRect">
            <a:avLst/>
          </a:prstGeom>
          <a:solidFill>
            <a:srgbClr val="16273E"/>
          </a:solidFill>
          <a:ln>
            <a:solidFill>
              <a:srgbClr val="3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2039112"/>
            <a:ext cx="1453896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Parts +</a:t>
            </a:r>
            <a:br/>
            <a:r>
              <a:t>Supplier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65960"/>
            <a:ext cx="1600200" cy="1051560"/>
          </a:xfrm>
          <a:prstGeom prst="roundRect">
            <a:avLst/>
          </a:prstGeom>
          <a:solidFill>
            <a:srgbClr val="16273E"/>
          </a:solidFill>
          <a:ln>
            <a:solidFill>
              <a:srgbClr val="43D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2039112"/>
            <a:ext cx="1453896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Readiness</a:t>
            </a:r>
            <a:br/>
            <a:r>
              <a:t>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965960"/>
            <a:ext cx="1600200" cy="1051560"/>
          </a:xfrm>
          <a:prstGeom prst="roundRect">
            <a:avLst/>
          </a:prstGeom>
          <a:solidFill>
            <a:srgbClr val="16273E"/>
          </a:solidFill>
          <a:ln>
            <a:solidFill>
              <a:srgbClr val="43D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2039112"/>
            <a:ext cx="1453896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3D Problem</a:t>
            </a:r>
            <a:br/>
            <a:r>
              <a:t>Location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2487168"/>
            <a:ext cx="548640" cy="0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89120" y="2487168"/>
            <a:ext cx="548640" cy="0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37960" y="2487168"/>
            <a:ext cx="548640" cy="0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487168"/>
            <a:ext cx="548640" cy="0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3840480"/>
            <a:ext cx="3063240" cy="14173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840480"/>
            <a:ext cx="54864" cy="141732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95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F4FA"/>
                </a:solidFill>
              </a:defRPr>
            </a:pPr>
            <a:r>
              <a:t>COMMAND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07408"/>
            <a:ext cx="2743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Fleet KPIs • critical assets • overall readiness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840480"/>
            <a:ext cx="3063240" cy="14173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3840480"/>
            <a:ext cx="54864" cy="14173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995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F4FA"/>
                </a:solidFill>
              </a:defRPr>
            </a:pPr>
            <a:r>
              <a:t>LIVE HEALTH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407408"/>
            <a:ext cx="2743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Animated telemetry scan → refreshed fleet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840480"/>
            <a:ext cx="3063240" cy="14173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840480"/>
            <a:ext cx="54864" cy="1417320"/>
          </a:xfrm>
          <a:prstGeom prst="rect">
            <a:avLst/>
          </a:prstGeom>
          <a:solidFill>
            <a:srgbClr val="43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995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F4FA"/>
                </a:solidFill>
              </a:defRPr>
            </a:pPr>
            <a:r>
              <a:t>NEXORA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07408"/>
            <a:ext cx="2743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EC4"/>
                </a:solidFill>
              </a:defRPr>
            </a:pPr>
            <a:r>
              <a:t>Explains why an asset is not ready and suggests next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Architecture: Real-time dashboard + API + intelligence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103120" cy="960120"/>
          </a:xfrm>
          <a:prstGeom prst="roundRect">
            <a:avLst/>
          </a:prstGeom>
          <a:solidFill>
            <a:srgbClr val="16273E"/>
          </a:solidFill>
          <a:ln>
            <a:solidFill>
              <a:srgbClr val="3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81912"/>
            <a:ext cx="19568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React 18</a:t>
            </a:r>
            <a:br/>
            <a:r>
              <a:t>Vite + Tailwind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103120" cy="960120"/>
          </a:xfrm>
          <a:prstGeom prst="roundRect">
            <a:avLst/>
          </a:prstGeom>
          <a:solidFill>
            <a:srgbClr val="16273E"/>
          </a:solidFill>
          <a:ln>
            <a:solidFill>
              <a:srgbClr val="48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581912"/>
            <a:ext cx="19568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Three.js</a:t>
            </a:r>
            <a:br/>
            <a:r>
              <a:t>3D Digital Twin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08760"/>
            <a:ext cx="2103120" cy="960120"/>
          </a:xfrm>
          <a:prstGeom prst="roundRect">
            <a:avLst/>
          </a:prstGeom>
          <a:solidFill>
            <a:srgbClr val="16273E"/>
          </a:solidFill>
          <a:ln>
            <a:solidFill>
              <a:srgbClr val="43D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581912"/>
            <a:ext cx="19568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Recharts</a:t>
            </a:r>
            <a:br/>
            <a:r>
              <a:t>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508760"/>
            <a:ext cx="2103120" cy="960120"/>
          </a:xfrm>
          <a:prstGeom prst="roundRect">
            <a:avLst/>
          </a:prstGeom>
          <a:solidFill>
            <a:srgbClr val="16273E"/>
          </a:solidFill>
          <a:ln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1581912"/>
            <a:ext cx="19568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React Router</a:t>
            </a:r>
            <a:br/>
            <a:r>
              <a:t>Role-based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971800"/>
            <a:ext cx="2743200" cy="1005840"/>
          </a:xfrm>
          <a:prstGeom prst="roundRect">
            <a:avLst/>
          </a:prstGeom>
          <a:solidFill>
            <a:srgbClr val="16273E"/>
          </a:solidFill>
          <a:ln>
            <a:solidFill>
              <a:srgbClr val="3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3044952"/>
            <a:ext cx="259689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Node.js + Express</a:t>
            </a:r>
            <a:br/>
            <a:r>
              <a:t>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971800"/>
            <a:ext cx="2743200" cy="1005840"/>
          </a:xfrm>
          <a:prstGeom prst="roundRect">
            <a:avLst/>
          </a:prstGeom>
          <a:solidFill>
            <a:srgbClr val="16273E"/>
          </a:solidFill>
          <a:ln>
            <a:solidFill>
              <a:srgbClr val="43D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044952"/>
            <a:ext cx="259689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Readiness + AI</a:t>
            </a:r>
            <a:br/>
            <a:r>
              <a:t>Service Abstraction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114800" y="2468880"/>
            <a:ext cx="1965960" cy="502920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32320" y="2468880"/>
            <a:ext cx="365759" cy="502920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80" y="4160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DATA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526280"/>
            <a:ext cx="2926080" cy="1005840"/>
          </a:xfrm>
          <a:prstGeom prst="roundRect">
            <a:avLst/>
          </a:prstGeom>
          <a:solidFill>
            <a:srgbClr val="16273E"/>
          </a:solidFill>
          <a:ln>
            <a:solidFill>
              <a:srgbClr val="48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4599432"/>
            <a:ext cx="277977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Synthetic Fleet Dataset</a:t>
            </a:r>
            <a:br/>
            <a:r>
              <a:t>1,248 equipment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526280"/>
            <a:ext cx="2926080" cy="1005840"/>
          </a:xfrm>
          <a:prstGeom prst="roundRect">
            <a:avLst/>
          </a:prstGeom>
          <a:solidFill>
            <a:srgbClr val="16273E"/>
          </a:solidFill>
          <a:ln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4599432"/>
            <a:ext cx="277977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MongoDB option</a:t>
            </a:r>
            <a:br/>
            <a:r>
              <a:t>Mongoose adapter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526280"/>
            <a:ext cx="1828800" cy="1005840"/>
          </a:xfrm>
          <a:prstGeom prst="roundRect">
            <a:avLst/>
          </a:prstGeom>
          <a:solidFill>
            <a:srgbClr val="16273E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4599432"/>
            <a:ext cx="168249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Alerts</a:t>
            </a:r>
            <a:br/>
            <a:r>
              <a:t>Components</a:t>
            </a:r>
            <a:br/>
            <a:r>
              <a:t>Suppliers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83280" y="3977639"/>
            <a:ext cx="731520" cy="548641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949440" y="3977639"/>
            <a:ext cx="548639" cy="548641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3977639"/>
            <a:ext cx="2468881" cy="548641"/>
          </a:xfrm>
          <a:prstGeom prst="line">
            <a:avLst/>
          </a:prstGeom>
          <a:ln w="25400">
            <a:solidFill>
              <a:srgbClr val="3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EC4"/>
                </a:solidFill>
              </a:defRPr>
            </a:pPr>
            <a:r>
              <a:t>Flow: sensors / records → API → readiness calculation → prioritized UI → 3D diagnosis + AI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Best Demo Feature: 3D Problem Location</a:t>
            </a:r>
          </a:p>
          <a:p>
            <a:pPr>
              <a:spcBef>
                <a:spcPts val="600"/>
              </a:spcBef>
              <a:defRPr sz="1300">
                <a:solidFill>
                  <a:srgbClr val="9BAEC4"/>
                </a:solidFill>
              </a:defRPr>
            </a:pPr>
            <a:r>
              <a:t>Example scenario: AF-002 is NOT READY — NEXORA shows the affected subsystem instead of only showing a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749039" cy="434340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" cy="434340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3428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EF4FA"/>
                </a:solidFill>
              </a:defRPr>
            </a:pPr>
            <a:r>
              <a:t>DEMO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3428999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1. Run LIVE HEALTH CHECK</a:t>
            </a:r>
            <a:br/>
            <a:br/>
            <a:r>
              <a:t>2. Open All Equipment</a:t>
            </a:r>
            <a:br/>
            <a:br/>
            <a:r>
              <a:t>3. Select AF-002</a:t>
            </a:r>
            <a:br/>
            <a:br/>
            <a:r>
              <a:t>4. Inspect 3D Digital Twin</a:t>
            </a:r>
            <a:br/>
            <a:br/>
            <a:r>
              <a:t>5. Ask NEXORA AI: “Why is AF-002 not ready?”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17320"/>
            <a:ext cx="6858000" cy="4343400"/>
          </a:xfrm>
          <a:prstGeom prst="roundRect">
            <a:avLst/>
          </a:prstGeom>
          <a:solidFill>
            <a:srgbClr val="050C17"/>
          </a:solidFill>
          <a:ln>
            <a:solidFill>
              <a:srgbClr val="2B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6420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AEC4"/>
                </a:solidFill>
              </a:defRPr>
            </a:pPr>
            <a:r>
              <a:t>DIGITAL TWIN  /  AF-002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3291840" cy="502920"/>
          </a:xfrm>
          <a:prstGeom prst="roundRect">
            <a:avLst/>
          </a:prstGeom>
          <a:solidFill>
            <a:srgbClr val="2A415B"/>
          </a:solidFill>
          <a:ln>
            <a:solidFill>
              <a:srgbClr val="3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7040880" y="2057400"/>
            <a:ext cx="1920240" cy="1417320"/>
          </a:xfrm>
          <a:prstGeom prst="triangle">
            <a:avLst/>
          </a:prstGeom>
          <a:solidFill>
            <a:srgbClr val="22374F"/>
          </a:solidFill>
          <a:ln>
            <a:solidFill>
              <a:srgbClr val="48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915400" y="2331720"/>
            <a:ext cx="640080" cy="1005840"/>
          </a:xfrm>
          <a:prstGeom prst="triangle">
            <a:avLst/>
          </a:prstGeom>
          <a:solidFill>
            <a:srgbClr val="22374F"/>
          </a:solidFill>
          <a:ln>
            <a:solidFill>
              <a:srgbClr val="48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0" y="2743200"/>
            <a:ext cx="411480" cy="411480"/>
          </a:xfrm>
          <a:prstGeom prst="ellipse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5486400" y="2944368"/>
            <a:ext cx="2267712" cy="1216152"/>
          </a:xfrm>
          <a:prstGeom prst="line">
            <a:avLst/>
          </a:prstGeom>
          <a:ln w="25400">
            <a:solidFill>
              <a:srgbClr val="F4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3886200"/>
            <a:ext cx="292608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3886200"/>
            <a:ext cx="54864" cy="1234440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041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4FA"/>
                </a:solidFill>
              </a:defRPr>
            </a:pPr>
            <a:r>
              <a:t>⚠ PROBLEM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453128"/>
            <a:ext cx="26060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EC4"/>
                </a:solidFill>
              </a:defRPr>
            </a:pPr>
            <a:r>
              <a:t>Cooling System • 41% 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886200"/>
            <a:ext cx="283464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886200"/>
            <a:ext cx="54864" cy="123444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0416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4FA"/>
                </a:solidFill>
              </a:defRPr>
            </a:pPr>
            <a:r>
              <a:t>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53128"/>
            <a:ext cx="2514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EC4"/>
                </a:solidFill>
              </a:defRPr>
            </a:pPr>
            <a:r>
              <a:t>51% • NOT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IBM Technologies: Integration-ready intelligence</a:t>
            </a:r>
          </a:p>
          <a:p>
            <a:pPr>
              <a:spcBef>
                <a:spcPts val="600"/>
              </a:spcBef>
              <a:defRPr sz="1300">
                <a:solidFill>
                  <a:srgbClr val="9BAEC4"/>
                </a:solidFill>
              </a:defRPr>
            </a:pPr>
            <a:r>
              <a:t>Important: the uploaded prototype currently uses an AI abstraction layer; IBM services are the intended production integration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425196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425196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EF4FA"/>
                </a:solidFill>
              </a:defRPr>
            </a:pPr>
            <a:r>
              <a:t>watsonx.ai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84248"/>
            <a:ext cx="31089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Target integration for NEXORA AI:</a:t>
            </a:r>
            <a:br/>
            <a:br/>
            <a:r>
              <a:t>• Natural-language fleet queries</a:t>
            </a:r>
            <a:br/>
            <a:r>
              <a:t>• Explain “WHY?” behind readiness</a:t>
            </a:r>
            <a:br/>
            <a:r>
              <a:t>• Summarize maintenance priorities</a:t>
            </a:r>
            <a:br/>
            <a:r>
              <a:t>• Ground responses in fleet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425196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54864" cy="425196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EF4FA"/>
                </a:solidFill>
              </a:defRPr>
            </a:pPr>
            <a:r>
              <a:t>IBM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1089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Target deployment layer:</a:t>
            </a:r>
            <a:br/>
            <a:br/>
            <a:r>
              <a:t>• Host frontend + API services</a:t>
            </a:r>
            <a:br/>
            <a:r>
              <a:t>• Secure environment for synthetic fleet data</a:t>
            </a:r>
            <a:br/>
            <a:r>
              <a:t>• Scalable path from prototype to production</a:t>
            </a:r>
            <a:br/>
            <a:r>
              <a:t>• Connect IBM AI services to NEXORA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429000" cy="425196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54864" cy="4251960"/>
          </a:xfrm>
          <a:prstGeom prst="rect">
            <a:avLst/>
          </a:prstGeom>
          <a:solidFill>
            <a:srgbClr val="43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EF4FA"/>
                </a:solidFill>
              </a:defRPr>
            </a:pPr>
            <a:r>
              <a:t>NEXORA AI ABSTRACTION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31089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Already present in the codebase:</a:t>
            </a:r>
            <a:br/>
            <a:br/>
            <a:r>
              <a:t>• Dedicated AI service / route</a:t>
            </a:r>
            <a:br/>
            <a:r>
              <a:t>• Fleet-aware question handling</a:t>
            </a:r>
            <a:br/>
            <a:r>
              <a:t>• Suggested queries</a:t>
            </a:r>
            <a:br/>
            <a:r>
              <a:t>• Fallback explanation logic</a:t>
            </a:r>
            <a:br/>
            <a:br/>
            <a:r>
              <a:t>This keeps the UI independent of one AI provider.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EC4"/>
                </a:solidFill>
              </a:defRPr>
            </a:pPr>
            <a:r>
              <a:t>For the final hackathon deployment, connect the existing AI abstraction to IBM watsonx.ai rather than hard-coding the model into the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Results &amp; Impact: turn fleet data into maintenance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01168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63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4D3FF"/>
                </a:solidFill>
              </a:defRPr>
            </a:pPr>
            <a:r>
              <a:t>1,248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monitored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417320"/>
            <a:ext cx="201168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563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487EFF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84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equipment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417320"/>
            <a:ext cx="201168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63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45B69"/>
                </a:solidFill>
              </a:defRPr>
            </a:pPr>
            <a:r>
              <a:t>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084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example AF-002 readiness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417320"/>
            <a:ext cx="201168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563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7BE46"/>
                </a:solidFill>
              </a:defRPr>
            </a:pPr>
            <a:r>
              <a:t>41%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084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example cooling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417320"/>
            <a:ext cx="192024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5636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43DA96"/>
                </a:solidFill>
              </a:defRPr>
            </a:pPr>
            <a:r>
              <a:t>1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084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AEC4"/>
                </a:solidFill>
              </a:defRPr>
            </a:pPr>
            <a:r>
              <a:t>for fleet readiness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63240"/>
            <a:ext cx="5074920" cy="214884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63240"/>
            <a:ext cx="54864" cy="214884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18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F4FA"/>
                </a:solidFill>
              </a:defRPr>
            </a:pPr>
            <a:r>
              <a:t>SUCCESS LOOKS 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30168"/>
            <a:ext cx="47548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• Identify critical assets before a mission window</a:t>
            </a:r>
            <a:br/>
            <a:r>
              <a:t>• Prioritize maintenance using readiness + dependencies</a:t>
            </a:r>
            <a:br/>
            <a:r>
              <a:t>• Locate the affected subsystem in 3D</a:t>
            </a:r>
            <a:br/>
            <a:r>
              <a:t>• Explain the decision to an operator in plain language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63240"/>
            <a:ext cx="5074920" cy="214884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063240"/>
            <a:ext cx="54864" cy="2148840"/>
          </a:xfrm>
          <a:prstGeom prst="rect">
            <a:avLst/>
          </a:prstGeom>
          <a:solidFill>
            <a:srgbClr val="43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218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F4FA"/>
                </a:solidFill>
              </a:defRPr>
            </a:pPr>
            <a:r>
              <a:t>MEASURABLE NEXT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630168"/>
            <a:ext cx="47548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EC4"/>
                </a:solidFill>
              </a:defRPr>
            </a:pPr>
            <a:r>
              <a:t>Prototype metrics to track:</a:t>
            </a:r>
            <a:br/>
            <a:br/>
            <a:r>
              <a:t>Mean time to detect • maintenance lead-time reduction • false-alert rate • % assets with explainable readiness • parts-risk resolution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EF4FA"/>
                </a:solidFill>
              </a:defRPr>
            </a:pPr>
            <a:r>
              <a:t>Impact claim: NEXORA is designed to reduce decision latency — not replace human maintenance authority.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60120" cy="457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2468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BAEC4"/>
                </a:solidFill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AEC4"/>
                </a:solidFill>
              </a:defRPr>
            </a:pPr>
            <a:r>
              <a:t>NEXORA  •  IBM HACKATHON 2026</a:t>
            </a:r>
          </a:p>
          <a:p>
            <a:pPr algn="r">
              <a:defRPr sz="800">
                <a:solidFill>
                  <a:srgbClr val="9BAEC4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EF4FA"/>
                </a:solidFill>
              </a:defRPr>
            </a:pPr>
            <a:r>
              <a:t>Team: one platform, four builders</a:t>
            </a:r>
          </a:p>
          <a:p>
            <a:pPr>
              <a:spcBef>
                <a:spcPts val="600"/>
              </a:spcBef>
              <a:defRPr sz="1300">
                <a:solidFill>
                  <a:srgbClr val="9BAEC4"/>
                </a:solidFill>
              </a:defRPr>
            </a:pPr>
            <a:r>
              <a:t>Roles can be updated to match your exact contribution split before 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606040" cy="32461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54864" cy="3246120"/>
          </a:xfrm>
          <a:prstGeom prst="rect">
            <a:avLst/>
          </a:prstGeom>
          <a:solidFill>
            <a:srgbClr val="34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F4FA"/>
                </a:solidFill>
              </a:defRPr>
            </a:pPr>
            <a:r>
              <a:t>Meet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22860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EC4"/>
                </a:solidFill>
              </a:defRPr>
            </a:pPr>
            <a:r>
              <a:t>Backend &amp; API</a:t>
            </a:r>
            <a:br/>
            <a:br/>
            <a:r>
              <a:t>REST services • data flow •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08760"/>
            <a:ext cx="2606040" cy="32461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08760"/>
            <a:ext cx="54864" cy="3246120"/>
          </a:xfrm>
          <a:prstGeom prst="rect">
            <a:avLst/>
          </a:prstGeom>
          <a:solidFill>
            <a:srgbClr val="48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664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F4FA"/>
                </a:solidFill>
              </a:defRPr>
            </a:pPr>
            <a:r>
              <a:t>Jay Chavda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75688"/>
            <a:ext cx="22860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EC4"/>
                </a:solidFill>
              </a:defRPr>
            </a:pPr>
            <a:r>
              <a:t>Frontend &amp; UX</a:t>
            </a:r>
            <a:br/>
            <a:br/>
            <a:r>
              <a:t>React UI • dashboards •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08760"/>
            <a:ext cx="2606040" cy="32461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54864" cy="3246120"/>
          </a:xfrm>
          <a:prstGeom prst="rect">
            <a:avLst/>
          </a:prstGeom>
          <a:solidFill>
            <a:srgbClr val="43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64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F4FA"/>
                </a:solidFill>
              </a:defRPr>
            </a:pPr>
            <a:r>
              <a:t>Jay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75688"/>
            <a:ext cx="22860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EC4"/>
                </a:solidFill>
              </a:defRPr>
            </a:pPr>
            <a:r>
              <a:t>3D &amp; Intelligence</a:t>
            </a:r>
            <a:br/>
            <a:br/>
            <a:r>
              <a:t>Three.js • digital twin • AI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08760"/>
            <a:ext cx="2606040" cy="3246120"/>
          </a:xfrm>
          <a:prstGeom prst="roundRect">
            <a:avLst/>
          </a:prstGeom>
          <a:solidFill>
            <a:srgbClr val="111D30"/>
          </a:solidFill>
          <a:ln>
            <a:solidFill>
              <a:srgbClr val="28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508760"/>
            <a:ext cx="54864" cy="324612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664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F4FA"/>
                </a:solidFill>
              </a:defRPr>
            </a:pPr>
            <a:r>
              <a:t>Kalpesh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075688"/>
            <a:ext cx="228600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EC4"/>
                </a:solidFill>
              </a:defRPr>
            </a:pPr>
            <a:r>
              <a:t>Data &amp; Testing</a:t>
            </a:r>
            <a:br/>
            <a:br/>
            <a:r>
              <a:t>Fleet dataset • scenarios •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FF"/>
                </a:solidFill>
              </a:defRPr>
            </a:pPr>
            <a:r>
              <a:t>Shared goal → Predict. Prepare. Protect.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EC4"/>
                </a:solidFill>
              </a:defRPr>
            </a:pPr>
            <a:r>
              <a:t>NEXORA • AI-powered Defense &amp; Aerospace Equipment Readiness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